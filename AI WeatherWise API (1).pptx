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2154" y="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4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4943326"/>
            <a:ext cx="111061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18475" y="504825"/>
            <a:ext cx="3130599" cy="3048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6" y="2253108"/>
            <a:ext cx="19050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1050" y="5505301"/>
            <a:ext cx="2318295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51745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29683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07622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85560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75570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3508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31447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9385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6850" y="5671988"/>
            <a:ext cx="893861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42862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10258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52450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152876"/>
            <a:ext cx="1619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5657701"/>
            <a:ext cx="419100" cy="419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5781526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925" y="2634108"/>
            <a:ext cx="11649075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0F172A"/>
                </a:solidFill>
                <a:latin typeface="Segoe UI"/>
              </a:rPr>
              <a:t>AI WEATHERWISE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52192"/>
            <a:ext cx="10096500" cy="488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Segoe UI"/>
              </a:rPr>
              <a:t>An Intelligent Microservices Backend for Live Meteorological Data Aggregation, JWT Security Guarding, and Context-Aware Generative AI Recommendations</a:t>
            </a:r>
            <a:r>
              <a:rPr lang="en-IN" sz="1350" b="0" i="0" u="none" dirty="0">
                <a:solidFill>
                  <a:srgbClr val="334155"/>
                </a:solidFill>
                <a:latin typeface="Segoe UI"/>
              </a:rPr>
              <a:t>. </a:t>
            </a:r>
            <a:endParaRPr sz="1350" b="0" i="0" u="none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0400" y="590550"/>
            <a:ext cx="2646558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37" b="1" dirty="0">
                <a:solidFill>
                  <a:srgbClr val="0284C7"/>
                </a:solidFill>
                <a:latin typeface="Segoe UI"/>
              </a:rPr>
              <a:t>NAAN MUDHALVAN</a:t>
            </a:r>
            <a:r>
              <a:rPr sz="937" b="1" i="0" u="none" dirty="0">
                <a:solidFill>
                  <a:srgbClr val="0284C7"/>
                </a:solidFill>
                <a:latin typeface="Segoe UI"/>
              </a:rPr>
              <a:t>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2310258"/>
            <a:ext cx="139461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0369A1"/>
                </a:solidFill>
                <a:latin typeface="Segoe UI"/>
              </a:rPr>
              <a:t>TN SKILLS SMARTBRIDGE</a:t>
            </a:r>
            <a:endParaRPr sz="900" b="1" i="0" u="none" dirty="0">
              <a:solidFill>
                <a:srgbClr val="0369A1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050" y="5143351"/>
            <a:ext cx="3017304" cy="1428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PROJECT DEVELOPMENT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297" y="5148113"/>
            <a:ext cx="235706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64748B"/>
                </a:solidFill>
                <a:latin typeface="Segoe UI"/>
              </a:rPr>
              <a:t>Department of Computer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471487"/>
            <a:ext cx="78890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BHARATHIYAR ARTS AND SCIENCE COLLEGE FOR WOMEN (AUTONOMOUS)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690562"/>
            <a:ext cx="78890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egoe UI"/>
              </a:rPr>
              <a:t>Deviyakurichi • Department of Computer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695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720" y="5733901"/>
            <a:ext cx="9111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0633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1658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572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9597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6510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7535" y="5733901"/>
            <a:ext cx="10977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3050" y="5691038"/>
            <a:ext cx="83671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0284C7"/>
                </a:solidFill>
                <a:latin typeface="Segoe UI"/>
              </a:rPr>
              <a:t>TEAM LEADER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6850" y="5881538"/>
            <a:ext cx="1132233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275" b="1" dirty="0">
                <a:solidFill>
                  <a:srgbClr val="0F172A"/>
                </a:solidFill>
                <a:latin typeface="Segoe UI"/>
              </a:rPr>
              <a:t>DHIYASHREE S</a:t>
            </a:r>
            <a:endParaRPr sz="1275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13720" y="5848201"/>
            <a:ext cx="546625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87" b="1" dirty="0">
                <a:solidFill>
                  <a:srgbClr val="0F172A"/>
                </a:solidFill>
                <a:latin typeface="Segoe UI"/>
              </a:rPr>
              <a:t>DIVYA P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91658" y="5848201"/>
            <a:ext cx="609141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87" b="1" dirty="0">
                <a:solidFill>
                  <a:srgbClr val="0F172A"/>
                </a:solidFill>
                <a:latin typeface="Segoe UI"/>
              </a:rPr>
              <a:t>DURGA S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69597" y="5848201"/>
            <a:ext cx="779059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87" b="1" dirty="0">
                <a:solidFill>
                  <a:srgbClr val="0F172A"/>
                </a:solidFill>
                <a:latin typeface="Segoe UI"/>
              </a:rPr>
              <a:t>ELAKKIYA R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47535" y="5848201"/>
            <a:ext cx="766235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87" b="1" i="0" u="none" dirty="0">
                <a:solidFill>
                  <a:srgbClr val="0F172A"/>
                </a:solidFill>
                <a:latin typeface="Segoe UI"/>
              </a:rPr>
              <a:t>ELAKKIYA S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48375"/>
            <a:ext cx="11258550" cy="4572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850" y="5419725"/>
            <a:ext cx="50577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29375" y="5219700"/>
            <a:ext cx="5057775" cy="47625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25900" y="6172200"/>
            <a:ext cx="156105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34608" y="6172200"/>
            <a:ext cx="1400621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82880" y="6172200"/>
            <a:ext cx="1531887" cy="20955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62418" y="6172200"/>
            <a:ext cx="1462831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4850" y="2655093"/>
            <a:ext cx="5057775" cy="986135"/>
          </a:xfrm>
          <a:prstGeom prst="roundRect">
            <a:avLst>
              <a:gd name="adj" fmla="val 77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850" y="5419725"/>
            <a:ext cx="5057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95191" y="5524500"/>
            <a:ext cx="870346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22687" y="5524500"/>
            <a:ext cx="666154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5992" y="5524500"/>
            <a:ext cx="916632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158" y="6224587"/>
            <a:ext cx="95250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30" y="6224587"/>
            <a:ext cx="95250" cy="104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968" y="6224587"/>
            <a:ext cx="95250" cy="104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150" y="6219825"/>
            <a:ext cx="1428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8" y="6219825"/>
            <a:ext cx="8572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30" y="6219825"/>
            <a:ext cx="1428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668" y="6219825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295400"/>
            <a:ext cx="3048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295400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5334000"/>
            <a:ext cx="123825" cy="1190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" y="1376362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0337" y="1376362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1740693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199084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657475"/>
            <a:ext cx="13335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115865"/>
            <a:ext cx="133350" cy="1333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02 /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6210300"/>
            <a:ext cx="16112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WORKFLOW PIPELINE: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25" y="352425"/>
            <a:ext cx="494555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FOUNDATION &amp;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25" y="504825"/>
            <a:ext cx="5192836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Abstract &amp; Project Introduction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1150" y="6210300"/>
            <a:ext cx="146580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1. JWT 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858" y="6210300"/>
            <a:ext cx="130537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2. Manage Favorites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8130" y="6210300"/>
            <a:ext cx="143663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3. Weather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7668" y="6210300"/>
            <a:ext cx="136758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Segoe UI"/>
              </a:rPr>
              <a:t>4. Gemini AI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50" y="1714500"/>
            <a:ext cx="515302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is an enterprise-grade RESTful web service engineered using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Node.js, Express.js, and MongoDB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. It bridges live meteorological monitoring with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Google Gemini Generative AI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to convert numeric environmental data into intelligent recommendations.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5543550"/>
            <a:ext cx="15297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Primary Technologies: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0" y="5324475"/>
            <a:ext cx="486727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Primary Objective: Deliver a zero-downtime, secure, and AI-enriched backend API service.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" y="1347787"/>
            <a:ext cx="201783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Executive Abstract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2778918"/>
            <a:ext cx="6012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Core Problem &amp; Solution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75" y="2978943"/>
            <a:ext cx="4905375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Traditional portals provide isolated, numeric metrics without actionable guidance. WeatherWise resolves this via secure user favorites sync, live weather aggregation, and automated LLM activity advisories.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1391" y="5543550"/>
            <a:ext cx="81319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Node/Express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98887" y="5543550"/>
            <a:ext cx="60900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MongoDB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2192" y="5543550"/>
            <a:ext cx="85948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Google Gemini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9425" y="1347787"/>
            <a:ext cx="233857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Project Scope &amp; Need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7975" y="171450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Real-Time Weather Aggregation: Query live temperature, humidity, wind velocity, and condition states via OpenWeatherMap API integration.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7975" y="217289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Stateful Location Persistence: Allow registered users to maintain multi-city favorite lists with strict compound uniqueness in MongoDB.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7975" y="263128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Generative AI Recommendations: Leverage prompt engineering with Google Gemini for contextual clothing, travel, and hydration advisories.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7975" y="308967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Resilient Offline Architecture: Incorporate mock generators to maintain 100% testability even without active third-party API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10325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9618" y="1352550"/>
            <a:ext cx="1212056" cy="171450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409825"/>
            <a:ext cx="5095875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9813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61649" y="1352550"/>
            <a:ext cx="1644550" cy="17145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0325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10325" y="24098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0325" y="312420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3050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16954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95450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72150" y="1695450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8765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4098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409825"/>
            <a:ext cx="3810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72150" y="2409825"/>
            <a:ext cx="9525" cy="47625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5909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29813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981325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2981325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0325" y="23050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0325" y="16954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0325" y="169545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96675" y="169545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10325" y="30194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0325" y="24098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0325" y="2409825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96675" y="2409825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7338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31242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312420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312420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6143625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143625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050" y="6143625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1371600"/>
            <a:ext cx="1333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03 / 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4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EA580C"/>
                </a:solidFill>
                <a:latin typeface="Segoe UI"/>
              </a:rPr>
              <a:t>1. Existing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37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D97706"/>
                </a:solidFill>
                <a:latin typeface="Segoe UI"/>
              </a:rPr>
              <a:t>2. Problems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59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Segoe UI"/>
              </a:rPr>
              <a:t>3. Proposed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82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Segoe UI"/>
              </a:rPr>
              <a:t>4. Transformed Benefits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725" y="352425"/>
            <a:ext cx="604018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COMPARATIVE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725" y="504825"/>
            <a:ext cx="634219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Existing System vs. Proposed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14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Static Numeric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37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No Context &amp; High Fragility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59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Express + Gemini MVC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82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Actionable AI &amp; Zero Downtime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" y="5372100"/>
            <a:ext cx="60840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A3412"/>
                </a:solidFill>
                <a:latin typeface="Segoe UI"/>
              </a:rPr>
              <a:t>× Result: Higher cognitive load, lack of personalization, brittle execution.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4625" y="5372100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Segoe UI"/>
              </a:rPr>
              <a:t>✓ Result: 100% reliable uptime, automated smart insights, personalized persistence.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5818" y="1381125"/>
            <a:ext cx="115490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A3412"/>
                </a:solidFill>
                <a:latin typeface="Segoe UI"/>
              </a:rPr>
              <a:t>LEGACY APPROACH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7849" y="1381125"/>
            <a:ext cx="1587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65F46"/>
                </a:solidFill>
                <a:latin typeface="Segoe UI"/>
              </a:rPr>
              <a:t>AI WEATHERWISE 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1338262"/>
            <a:ext cx="17384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Segoe UI"/>
              </a:rPr>
              <a:t>Existing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200" y="17811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Isolated Raw Data Only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Presents raw numbers (e.g., 34°C, 70% humidity) with zero contextual advice or lifestyle guidance.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24955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No User State Synchronization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26574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Absence of persistent databases forces repeated manual city re-entry across sessions.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200" y="30670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Single Point of Failure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200" y="32289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Strict dependence on remote keys causes immediate service termination if rate limits occur.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2275" y="1338262"/>
            <a:ext cx="1901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Segoe UI"/>
              </a:rPr>
              <a:t>Proposed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62725" y="178117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Generative AI Summaries &amp; Tips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2725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Google Gemini dynamically translates raw temperature and metrics into natural clothing and travel tips.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2725" y="2495550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Secure JWT &amp; MongoDB CRUD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2725" y="26574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Bcrypt salted hashing with JWT bearer tokens enables private multi-city tracking across client apps.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2725" y="320992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Deterministic Mock Fallback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2725" y="337185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Built-in mock generators activate automatically if remote API keys expire, guaranteeing continuous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67425"/>
            <a:ext cx="112585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6047482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04707" y="1095375"/>
            <a:ext cx="5020567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04732" y="5410200"/>
            <a:ext cx="4620517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24858" y="6172200"/>
            <a:ext cx="1187648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0157" y="6172200"/>
            <a:ext cx="1505396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13203" y="6172200"/>
            <a:ext cx="1564183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5037" y="6172200"/>
            <a:ext cx="1700212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04732" y="1695450"/>
            <a:ext cx="4620517" cy="720030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04732" y="2510730"/>
            <a:ext cx="4620517" cy="88002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50" y="2214562"/>
            <a:ext cx="5647432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6750" y="296703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6750" y="370998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89282" y="1357312"/>
            <a:ext cx="835967" cy="161925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40399" y="2319337"/>
            <a:ext cx="849957" cy="142875"/>
          </a:xfrm>
          <a:prstGeom prst="roundRect">
            <a:avLst>
              <a:gd name="adj" fmla="val 2666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95130" y="3071812"/>
            <a:ext cx="1095226" cy="142875"/>
          </a:xfrm>
          <a:prstGeom prst="roundRect">
            <a:avLst>
              <a:gd name="adj" fmla="val 2666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94449" y="3814762"/>
            <a:ext cx="595907" cy="142875"/>
          </a:xfrm>
          <a:prstGeom prst="roundRect">
            <a:avLst>
              <a:gd name="adj" fmla="val 2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07" y="6234112"/>
            <a:ext cx="95250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3" y="6234112"/>
            <a:ext cx="95250" cy="1047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87" y="6234112"/>
            <a:ext cx="95250" cy="104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295400"/>
            <a:ext cx="28575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557" y="5505450"/>
            <a:ext cx="10477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371600"/>
            <a:ext cx="1524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732" y="1295400"/>
            <a:ext cx="2857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407" y="1371600"/>
            <a:ext cx="1524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28862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3081337"/>
            <a:ext cx="152400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3824287"/>
            <a:ext cx="12382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04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6219825"/>
            <a:ext cx="124881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CLIENT UI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725" y="352425"/>
            <a:ext cx="646472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PRESENTATION &amp; CLIENT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504825"/>
            <a:ext cx="67879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Frontend Development &amp; Client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0108" y="6210300"/>
            <a:ext cx="10923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Postman Client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407" y="6210300"/>
            <a:ext cx="14101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JSON Payload 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8453" y="6210300"/>
            <a:ext cx="14689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JWT Auto-Capture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0287" y="6210300"/>
            <a:ext cx="16049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Formatted JSON Visualized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50" y="1695450"/>
            <a:ext cx="5742682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Segoe UI"/>
              </a:rPr>
              <a:t>As an industry-standard backend service, the project employs a </a:t>
            </a:r>
            <a:r>
              <a:rPr sz="1012" b="1" i="0" u="none">
                <a:solidFill>
                  <a:srgbClr val="475569"/>
                </a:solidFill>
                <a:latin typeface="Segoe UI"/>
              </a:rPr>
              <a:t>Headless API Architecture</a:t>
            </a:r>
            <a:r>
              <a:rPr sz="1012" b="0" i="0" u="none">
                <a:solidFill>
                  <a:srgbClr val="475569"/>
                </a:solidFill>
                <a:latin typeface="Segoe UI"/>
              </a:rPr>
              <a:t>. The primary visual client interfaces and consumers are: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8557" y="5495925"/>
            <a:ext cx="5163442" cy="13335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Postman collection verified with full suite of public and private route contracts.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1343025"/>
            <a:ext cx="351176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Headless REST Client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6432" y="1385887"/>
            <a:ext cx="81691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C2410C"/>
                </a:solidFill>
                <a:latin typeface="Segoe UI"/>
              </a:rPr>
              <a:t>STATUS 200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7607" y="1990725"/>
            <a:ext cx="443001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"success"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true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"token"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"eyJhbGciOiJIUzI1NiIsInR5c..."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7607" y="2806005"/>
            <a:ext cx="443001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"city"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F766E"/>
                </a:solidFill>
                <a:latin typeface="Consolas"/>
              </a:rPr>
              <a:t>"Bangalore"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 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"temp"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34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"recommendation"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"Stay hydrated, and wear light cotton clothes."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2490787"/>
            <a:ext cx="549503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Structured interactive workspace with environment variables (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{{base_url}}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{{token}}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and pre-saved request bodies.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575" y="324326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Automatic extraction of returned JWT token on registration/login, storing it dynamically into headers for instant seamless authorization.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575" y="398621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Full CORS enablement allows React, Angular, or Flutter mobile clients to connect without origin rejection.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6682" y="1343025"/>
            <a:ext cx="259446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Verified UI Test Execution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7607" y="1800225"/>
            <a:ext cx="157199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/api/auth/login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4862" y="1800225"/>
            <a:ext cx="11032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(90ms)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7607" y="2615505"/>
            <a:ext cx="27509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/api/ai/weather-recommendation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02056" y="2615505"/>
            <a:ext cx="11660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(475ms)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575" y="2319337"/>
            <a:ext cx="2368041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21A8"/>
                </a:solidFill>
                <a:latin typeface="Segoe UI"/>
              </a:rPr>
              <a:t>Postman Interactive Client UI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7549" y="2338387"/>
            <a:ext cx="83090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E22CE"/>
                </a:solidFill>
                <a:latin typeface="Segoe UI"/>
              </a:rPr>
              <a:t>GUI INTERFACE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575" y="3071812"/>
            <a:ext cx="2460687" cy="1428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Segoe UI"/>
              </a:rPr>
              <a:t>Automated Test Script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2280" y="3090862"/>
            <a:ext cx="1076176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F766E"/>
                </a:solidFill>
                <a:latin typeface="Segoe UI"/>
              </a:rPr>
              <a:t>JAVASCRIPT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575" y="3814762"/>
            <a:ext cx="2651559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Segoe UI"/>
              </a:rPr>
              <a:t>CORS Middleware (Cross-Origin)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1599" y="3833812"/>
            <a:ext cx="57685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E40AF"/>
                </a:solidFill>
                <a:latin typeface="Segoe UI"/>
              </a:rPr>
              <a:t>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52389" y="6048375"/>
            <a:ext cx="1227832" cy="34290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18346" y="6038850"/>
            <a:ext cx="1297781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4253" y="6048375"/>
            <a:ext cx="1185564" cy="34290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77942" y="6048375"/>
            <a:ext cx="1662410" cy="3429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478" y="6048375"/>
            <a:ext cx="1400770" cy="34290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17373" y="6048375"/>
            <a:ext cx="1126926" cy="342900"/>
          </a:xfrm>
          <a:prstGeom prst="roundRect">
            <a:avLst>
              <a:gd name="adj" fmla="val 11111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88891" y="5429250"/>
            <a:ext cx="1792783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10325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59465" y="5429250"/>
            <a:ext cx="2446734" cy="1524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76400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352675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19425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0325" y="16764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0325" y="22479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0325" y="2819400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2257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167640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1676400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1676400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29241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23526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2352675"/>
            <a:ext cx="28575" cy="581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72150" y="235267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360045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019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019425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72150" y="3019425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3909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28194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2819400"/>
            <a:ext cx="28575" cy="581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2819400"/>
            <a:ext cx="9525" cy="5810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830817" y="17668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30817" y="23383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21" y="6172200"/>
            <a:ext cx="85725" cy="952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328" y="6172200"/>
            <a:ext cx="85725" cy="952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017" y="6172200"/>
            <a:ext cx="85725" cy="952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553" y="6172200"/>
            <a:ext cx="85725" cy="95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448" y="6172200"/>
            <a:ext cx="85725" cy="952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050" y="1371600"/>
            <a:ext cx="114300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1771650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2343150"/>
            <a:ext cx="76200" cy="1238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05 / 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086475"/>
            <a:ext cx="189993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E2E ARCHITECTURAL PIPELINE: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725" y="352425"/>
            <a:ext cx="72135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SERVER-SIDE ENGINE &amp; PERSISTENCE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725" y="504825"/>
            <a:ext cx="757418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Backend Framework &amp; Database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8589" y="6086475"/>
            <a:ext cx="1170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CLIENT / POSTMAN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94546" y="6076950"/>
            <a:ext cx="124063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Segoe UI"/>
              </a:rPr>
              <a:t>EXPRESS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0453" y="6086475"/>
            <a:ext cx="11284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JWT AUTH GUARD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4142" y="6086475"/>
            <a:ext cx="16052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CONTROLLER &amp;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4678" y="6086475"/>
            <a:ext cx="134362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Segoe UI"/>
              </a:rPr>
              <a:t>MONGODB / GEMINI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3573" y="6086475"/>
            <a:ext cx="106977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6198F"/>
                </a:solidFill>
                <a:latin typeface="Segoe UI"/>
              </a:rPr>
              <a:t>JSON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438775"/>
            <a:ext cx="11432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Security Guard: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5091" y="5448300"/>
            <a:ext cx="20885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0284C7"/>
                </a:solidFill>
                <a:latin typeface="Segoe UI"/>
              </a:rPr>
              <a:t>JWT + bcryptjs Salt Rounds: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0325" y="5438775"/>
            <a:ext cx="150837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Database Connection: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5665" y="5448300"/>
            <a:ext cx="290601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166534"/>
                </a:solidFill>
                <a:latin typeface="Segoe UI"/>
              </a:rPr>
              <a:t>Asynchronous Mongoose via MongoDB URI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1343025"/>
            <a:ext cx="356685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Node.js &amp; Express.js (MVC Pattern)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72275" y="1343025"/>
            <a:ext cx="2892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MongoDB &amp; Mongoose ODM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625" y="1752600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Routing &amp; Middleware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" y="1914525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Separated routes (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authRoutes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locationRoutes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weatherRoutes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with centralized JWT guard middleware.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625" y="242887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Controller Orchestration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625" y="2590800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Decouples request parsing from business logic across 4 dedicated controller classes with comprehensive HTTP status codes.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625" y="309562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AI &amp; Weather Services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625" y="325755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284C7"/>
                </a:solidFill>
                <a:latin typeface="Segoe UI"/>
              </a:rPr>
              <a:t>weatherService.js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handles OpenWeather queries;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orchestrates Gemini SDK calls with fallback generators.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4150" y="19335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name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email (Unique, RegEx)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password (Hashed)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4150" y="25050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user (Ref: User)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city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country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4150" y="2895600"/>
            <a:ext cx="56578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Compound Indexing &amp; Cardinality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4150" y="304800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1-to-Many mapping (User → Locations). Index </a:t>
            </a:r>
            <a:r>
              <a:rPr sz="900" b="0" i="0" u="none">
                <a:solidFill>
                  <a:srgbClr val="065F46"/>
                </a:solidFill>
                <a:latin typeface="Segoe UI"/>
              </a:rPr>
              <a:t>{ user: 1, city: 1, country: 1 }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prevents duplicate favorite entries.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4150" y="1762125"/>
            <a:ext cx="1974391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User Collection Schema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7967" y="17764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4150" y="2333625"/>
            <a:ext cx="2239491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Location Collection Schema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7967" y="23479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4686300"/>
            <a:ext cx="112585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703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39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6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955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43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1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19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10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906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194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82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770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058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364432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50" y="2364432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850" y="2364432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876800"/>
            <a:ext cx="147637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4650" y="5353050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2" y="2435869"/>
            <a:ext cx="1428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687" y="2435869"/>
            <a:ext cx="12382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7288" y="2435869"/>
            <a:ext cx="12382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5612" y="5429250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06 /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" y="352425"/>
            <a:ext cx="718653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DESIGN 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" y="504825"/>
            <a:ext cx="754586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Designing Approach &amp; Engineering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Strict HTTP verb alignment: GET for reads, POST for creations, PUT for full updates, and DELETE for removals across idempotent URI routes.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2250" y="2707332"/>
            <a:ext cx="3422600" cy="557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Uniform JSON payload wrapper: every endpoint returns </a:t>
            </a:r>
            <a:r>
              <a:rPr sz="975" b="0" i="0" u="none">
                <a:solidFill>
                  <a:srgbClr val="7C3AED"/>
                </a:solidFill>
                <a:latin typeface="Segoe UI"/>
              </a:rPr>
              <a:t>{ "success": true/false, "data": {...} }</a:t>
            </a:r>
            <a:r>
              <a:rPr sz="975" b="0" i="0" u="none">
                <a:solidFill>
                  <a:srgbClr val="475569"/>
                </a:solidFill>
                <a:latin typeface="Segoe UI"/>
              </a:rPr>
              <a:t> with strict HTTP error codes.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8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Centralized express error handling catches unhandled exceptions, database duplicate keys (Code 11000), and invalid JSON tokens gracefully.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867275"/>
            <a:ext cx="4154723" cy="142875"/>
          </a:xfrm>
          <a:prstGeom prst="rect">
            <a:avLst/>
          </a:prstGeom>
          <a:noFill/>
        </p:spPr>
        <p:txBody>
          <a:bodyPr wrap="none" lIns="2238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egoe UI"/>
              </a:rPr>
              <a:t>SYSTEM ENGINEERING LIFECYCLE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270" y="4872037"/>
            <a:ext cx="22337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Agile Academic Execution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2416819"/>
            <a:ext cx="222977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RESTful Contract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5150" y="2416819"/>
            <a:ext cx="261536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Standardized Schema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8750" y="2416819"/>
            <a:ext cx="225086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Defensive Error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77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Planning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Requirement analysis, API endpoint scoping &amp; persona definition.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65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01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Wireframe / 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60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Data modeling, schema design, and routing path definitions.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53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89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UI / Contract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48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mock contract definitions and JSON schema specifications.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41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77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36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Modular MVC coding with Express, Mongoose &amp; Gemini AI SDK.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29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65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24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automated assertion tests, status validation &amp; edge cases.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5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65F46"/>
                </a:solidFill>
                <a:latin typeface="Segoe UI"/>
              </a:rPr>
              <a:t>Final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1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047857"/>
                </a:solidFill>
                <a:latin typeface="Segoe UI"/>
              </a:rPr>
              <a:t>Production-ready service verified and documented for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2071687"/>
            <a:ext cx="11258550" cy="2276475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6725" y="5438775"/>
            <a:ext cx="11258550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99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531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963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75620" y="2581275"/>
            <a:ext cx="1638895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75620" y="2976562"/>
            <a:ext cx="1784449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75620" y="3376612"/>
            <a:ext cx="1145827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75620" y="3776662"/>
            <a:ext cx="1452264" cy="17145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75620" y="4100512"/>
            <a:ext cx="1514326" cy="17145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600325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76250" y="2081212"/>
          <a:ext cx="11239498" cy="2257425"/>
        </p:xfrm>
        <a:graphic>
          <a:graphicData uri="http://schemas.openxmlformats.org/drawingml/2006/table">
            <a:tbl>
              <a:tblPr/>
              <a:tblGrid>
                <a:gridCol w="31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9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Tool / 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Domain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Purpose in AI WeatherWise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Node.js &amp; 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Runs the non-blocking event-driven backend server, registers routes, and handles HTTP requests.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MongoDB &amp; Mongoose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Persistent document storage for user credentials and favorites with Mongoose validation rules.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Google Gemini AI SDK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Synthesizes natural language summaries and context-aware lifestyle recommendations (</a:t>
                      </a:r>
                      <a:r>
                        <a:rPr sz="975" b="0" i="0" u="none">
                          <a:solidFill>
                            <a:srgbClr val="7E22CE"/>
                          </a:solidFill>
                          <a:latin typeface="Segoe UI"/>
                        </a:rPr>
                        <a:t>@google/generative-ai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JWT &amp; bcryptjs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One-way salted password hashing and stateless token issuance for protecting private endpoints.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4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Postman &amp; VS Code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Integrated code development, Nodemon live reloading, and automated Postman test scripts.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07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352425"/>
            <a:ext cx="743452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IMPLEMENTATION TOOLING &amp;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" y="504825"/>
            <a:ext cx="780624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Developer Tools &amp; Complete 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5581650"/>
            <a:ext cx="33021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FOUR-TIER INTEGRATED TECHNOLOGY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1389" y="5591175"/>
            <a:ext cx="22923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Segoe UI"/>
              </a:rPr>
              <a:t>Cross-Functional Dependency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3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766E"/>
                </a:solidFill>
                <a:latin typeface="Segoe UI"/>
              </a:rPr>
              <a:t>1. Client / 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65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6534"/>
                </a:solidFill>
                <a:latin typeface="Segoe UI"/>
              </a:rPr>
              <a:t>2. Backend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97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D4ED8"/>
                </a:solidFill>
                <a:latin typeface="Segoe UI"/>
              </a:rPr>
              <a:t>3. Storage &amp;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29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7E22CE"/>
                </a:solidFill>
                <a:latin typeface="Segoe UI"/>
              </a:rPr>
              <a:t>4. AI &amp; External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1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34E4A"/>
                </a:solidFill>
                <a:latin typeface="Segoe UI"/>
              </a:rPr>
              <a:t>Postman / REST 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23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4532D"/>
                </a:solidFill>
                <a:latin typeface="Segoe UI"/>
              </a:rPr>
              <a:t>Express.js + Node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55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Segoe UI"/>
              </a:rPr>
              <a:t>MongoDB + Mongoose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87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581C87"/>
                </a:solidFill>
                <a:latin typeface="Segoe UI"/>
              </a:rPr>
              <a:t>Gemini AI &amp; OpenWeather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820" y="2600325"/>
            <a:ext cx="158174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Server Runtime &amp;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1820" y="2995612"/>
            <a:ext cx="172729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Database &amp; Object Data Modeler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1820" y="3395662"/>
            <a:ext cx="108867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Generative AI /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1820" y="3795712"/>
            <a:ext cx="13951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Segoe UI"/>
              </a:rPr>
              <a:t>Authentication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1820" y="4119562"/>
            <a:ext cx="145717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C2410C"/>
                </a:solidFill>
                <a:latin typeface="Segoe UI"/>
              </a:rPr>
              <a:t>Testing &amp; IDE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5800725"/>
            <a:ext cx="11106150" cy="685800"/>
          </a:xfrm>
          <a:prstGeom prst="roundRect">
            <a:avLst>
              <a:gd name="adj" fmla="val 1388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08778" y="46672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0077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295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7255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7255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9540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9540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" y="136683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237" y="1366837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171700"/>
            <a:ext cx="1238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594371"/>
            <a:ext cx="1238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017043"/>
            <a:ext cx="1238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1771650"/>
            <a:ext cx="9525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25" y="1771650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4669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7325" y="2466975"/>
            <a:ext cx="123825" cy="123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42128" y="52387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08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371475"/>
            <a:ext cx="574216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SUMMARY &amp;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523875"/>
            <a:ext cx="602926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Conclusion &amp; Future Enhancements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5943600"/>
            <a:ext cx="4243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6210300"/>
            <a:ext cx="1804981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 dirty="0">
                <a:solidFill>
                  <a:srgbClr val="64748B"/>
                </a:solidFill>
                <a:latin typeface="Segoe UI"/>
              </a:rPr>
              <a:t>Department of Computer Science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1657350"/>
            <a:ext cx="51435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334155"/>
                </a:solidFill>
                <a:latin typeface="Segoe UI"/>
              </a:rPr>
              <a:t>The </a:t>
            </a:r>
            <a:r>
              <a:rPr sz="1012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12" b="0" i="0" u="none">
                <a:solidFill>
                  <a:srgbClr val="334155"/>
                </a:solidFill>
                <a:latin typeface="Segoe UI"/>
              </a:rPr>
              <a:t> successfully provides a modular, reliable, and intelligent meteorological backend. Key deliverables achieved: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5248275"/>
            <a:ext cx="6000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Outcome: Academic requirements fulfilled with zero-downtime resilient API fallback.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5248275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Extensible framework designed for seamless plug-and-play client integration.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" y="1333500"/>
            <a:ext cx="19367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Project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" y="2157412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Decoupled MVC Architecture: Clean segregation of routes, controllers, services, and models ensures easy maintainability.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" y="2580084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Stateful &amp; Secure: Robust JWT authentication with bcrypt hashing protects individual users' favorite cities.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" y="3002756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Generative AI Value: Transforms static weather metrics into actionable everyday lifestyle recommendations.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1333500"/>
            <a:ext cx="168849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Future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5575" y="1762125"/>
            <a:ext cx="2833687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egoe UI"/>
              </a:rPr>
              <a:t>Mobile / Web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57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Develop a responsive React.js / Flutter client app consuming this API.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325" y="1762125"/>
            <a:ext cx="2833687" cy="1428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Segoe UI"/>
              </a:rPr>
              <a:t>Cloud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732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Containerize with Docker and host on AWS / Render with CI/CD pipelines.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5575" y="2457450"/>
            <a:ext cx="2833687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Segoe UI"/>
              </a:rPr>
              <a:t>Push Weather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57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 dirty="0" err="1">
                <a:solidFill>
                  <a:srgbClr val="475569"/>
                </a:solidFill>
                <a:latin typeface="Segoe UI"/>
              </a:rPr>
              <a:t>WebPush</a:t>
            </a:r>
            <a:r>
              <a:rPr sz="862" b="0" i="0" u="none" dirty="0">
                <a:solidFill>
                  <a:srgbClr val="475569"/>
                </a:solidFill>
                <a:latin typeface="Segoe UI"/>
              </a:rPr>
              <a:t> / SMS alerts for sudden severe storms and heatwaves.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325" y="2457450"/>
            <a:ext cx="2833687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C3AED"/>
                </a:solidFill>
                <a:latin typeface="Segoe UI"/>
              </a:rPr>
              <a:t>Advanced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32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Historical weather tracking and multi-model AI comparison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1444</Words>
  <Application>Microsoft Office PowerPoint</Application>
  <PresentationFormat>Widescreen</PresentationFormat>
  <Paragraphs>211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dc:description>generated using python-pptx</dc:description>
  <cp:lastModifiedBy>Swathi desigan</cp:lastModifiedBy>
  <cp:revision>10</cp:revision>
  <dcterms:created xsi:type="dcterms:W3CDTF">2013-01-27T09:14:16Z</dcterms:created>
  <dcterms:modified xsi:type="dcterms:W3CDTF">2026-09-30T12:23:14Z</dcterms:modified>
</cp:coreProperties>
</file>